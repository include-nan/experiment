
<file path=[Content_Types].xml><?xml version="1.0" encoding="utf-8"?>
<Types xmlns="http://schemas.openxmlformats.org/package/2006/content-types">
  <Default Extension="bin" ContentType="application/vnd.openxmlformats-officedocument.oleObject"/>
  <Default Extension="doc" ContentType="application/msword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1736" r:id="rId3"/>
    <p:sldId id="277" r:id="rId4"/>
    <p:sldId id="278" r:id="rId5"/>
    <p:sldId id="279" r:id="rId6"/>
    <p:sldId id="280" r:id="rId7"/>
    <p:sldId id="346" r:id="rId8"/>
    <p:sldId id="347" r:id="rId9"/>
    <p:sldId id="348" r:id="rId10"/>
    <p:sldId id="38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9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DD32D6-F5C1-4961-9A48-56C229FA8D95}" type="datetimeFigureOut">
              <a:rPr lang="zh-CN" altLang="en-US" smtClean="0"/>
              <a:t>2020/4/4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AEDD1E-A9AD-43C1-BD7F-FF2461C709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729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>
            <a:extLst>
              <a:ext uri="{FF2B5EF4-FFF2-40B4-BE49-F238E27FC236}">
                <a16:creationId xmlns:a16="http://schemas.microsoft.com/office/drawing/2014/main" id="{3685FF1C-4894-429B-8621-76413F38F6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备注占位符 2">
            <a:extLst>
              <a:ext uri="{FF2B5EF4-FFF2-40B4-BE49-F238E27FC236}">
                <a16:creationId xmlns:a16="http://schemas.microsoft.com/office/drawing/2014/main" id="{3626E7C1-3837-4568-A684-F9B6ADEBE2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这个内容我们要重点掌握 。。汉密顿距离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|X1 –X2| + |Y1-Y2|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252" name="灯片编号占位符 3">
            <a:extLst>
              <a:ext uri="{FF2B5EF4-FFF2-40B4-BE49-F238E27FC236}">
                <a16:creationId xmlns:a16="http://schemas.microsoft.com/office/drawing/2014/main" id="{86FB09A9-C229-4C1C-903A-55408AEFB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2D8A24EB-12F3-445F-A8C7-D7A2F59FCD79}" type="slidenum">
              <a:rPr lang="en-US" altLang="zh-CN">
                <a:latin typeface="Times New Roman" panose="02020603050405020304" pitchFamily="18" charset="0"/>
              </a:rPr>
              <a:pPr/>
              <a:t>3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>
            <a:extLst>
              <a:ext uri="{FF2B5EF4-FFF2-40B4-BE49-F238E27FC236}">
                <a16:creationId xmlns:a16="http://schemas.microsoft.com/office/drawing/2014/main" id="{5F8BA076-8E0E-4017-8C3D-94C0A223D6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备注占位符 2">
            <a:extLst>
              <a:ext uri="{FF2B5EF4-FFF2-40B4-BE49-F238E27FC236}">
                <a16:creationId xmlns:a16="http://schemas.microsoft.com/office/drawing/2014/main" id="{7172F9B4-5145-4FDD-A442-E8ADB5EB1F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、什么叫可通，可通就是这个路径可以走（而且不是走过的），相当于之前那张图的空白格子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、不可通代表什么意思？代表，撞墙了，或者这个位置是之前标记过的死路、或者是之前标记过的路线（就是你从这个路来的）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、四周均无通路，其实并不是四个方向，因为来的方向肯定是能回去的，只不过是你标记过能走的路</a:t>
            </a:r>
          </a:p>
        </p:txBody>
      </p:sp>
      <p:sp>
        <p:nvSpPr>
          <p:cNvPr id="55300" name="灯片编号占位符 3">
            <a:extLst>
              <a:ext uri="{FF2B5EF4-FFF2-40B4-BE49-F238E27FC236}">
                <a16:creationId xmlns:a16="http://schemas.microsoft.com/office/drawing/2014/main" id="{74680686-1D31-41DD-B2A0-82BEF2FBA0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4E87A82E-AC9B-4785-9D60-2223B9818792}" type="slidenum">
              <a:rPr lang="en-US" altLang="zh-CN">
                <a:latin typeface="Times New Roman" panose="02020603050405020304" pitchFamily="18" charset="0"/>
              </a:rPr>
              <a:pPr/>
              <a:t>4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>
            <a:extLst>
              <a:ext uri="{FF2B5EF4-FFF2-40B4-BE49-F238E27FC236}">
                <a16:creationId xmlns:a16="http://schemas.microsoft.com/office/drawing/2014/main" id="{FCED8D2C-EF18-474D-A645-482BEB2AAF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备注占位符 2">
            <a:extLst>
              <a:ext uri="{FF2B5EF4-FFF2-40B4-BE49-F238E27FC236}">
                <a16:creationId xmlns:a16="http://schemas.microsoft.com/office/drawing/2014/main" id="{09B2D9EE-3FE1-4F35-9153-CF7175C680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372" name="灯片编号占位符 3">
            <a:extLst>
              <a:ext uri="{FF2B5EF4-FFF2-40B4-BE49-F238E27FC236}">
                <a16:creationId xmlns:a16="http://schemas.microsoft.com/office/drawing/2014/main" id="{1F3079CC-09E4-4718-9D97-CE6A16FAA4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18E5D985-D646-4422-B7C8-0151589DB270}" type="slidenum">
              <a:rPr lang="en-US" altLang="zh-CN">
                <a:latin typeface="Times New Roman" panose="02020603050405020304" pitchFamily="18" charset="0"/>
              </a:rPr>
              <a:pPr/>
              <a:t>6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>
            <a:extLst>
              <a:ext uri="{FF2B5EF4-FFF2-40B4-BE49-F238E27FC236}">
                <a16:creationId xmlns:a16="http://schemas.microsoft.com/office/drawing/2014/main" id="{F5AE6D51-2BE0-46AE-B317-BED0F9C144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备注占位符 2">
            <a:extLst>
              <a:ext uri="{FF2B5EF4-FFF2-40B4-BE49-F238E27FC236}">
                <a16:creationId xmlns:a16="http://schemas.microsoft.com/office/drawing/2014/main" id="{E9A395C9-77AF-4621-B59E-4EB26889B3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Curpos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当前位置，</a:t>
            </a:r>
            <a:r>
              <a:rPr kumimoji="1"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curstep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代表是第几步</a:t>
            </a:r>
            <a:endParaRPr kumimoji="1"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420" name="幻灯片编号占位符 3">
            <a:extLst>
              <a:ext uri="{FF2B5EF4-FFF2-40B4-BE49-F238E27FC236}">
                <a16:creationId xmlns:a16="http://schemas.microsoft.com/office/drawing/2014/main" id="{15595452-0B9D-4013-94C6-7A30A1D9D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D7B4D6FB-526A-43F8-B175-E384E9B18BFA}" type="slidenum">
              <a:rPr lang="en-US" altLang="zh-CN">
                <a:latin typeface="Times New Roman" panose="02020603050405020304" pitchFamily="18" charset="0"/>
              </a:rPr>
              <a:pPr/>
              <a:t>7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>
            <a:extLst>
              <a:ext uri="{FF2B5EF4-FFF2-40B4-BE49-F238E27FC236}">
                <a16:creationId xmlns:a16="http://schemas.microsoft.com/office/drawing/2014/main" id="{F50F72C2-707F-447B-A9C7-494F62DB89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备注占位符 2">
            <a:extLst>
              <a:ext uri="{FF2B5EF4-FFF2-40B4-BE49-F238E27FC236}">
                <a16:creationId xmlns:a16="http://schemas.microsoft.com/office/drawing/2014/main" id="{DA061F40-33ED-4251-9357-987D157BAC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首先判断当前位置是否是没走过的</a:t>
            </a:r>
            <a:endParaRPr kumimoji="1"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kumimoji="1"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然后留下足迹（打上特殊标记）</a:t>
            </a:r>
          </a:p>
        </p:txBody>
      </p:sp>
      <p:sp>
        <p:nvSpPr>
          <p:cNvPr id="62468" name="幻灯片编号占位符 3">
            <a:extLst>
              <a:ext uri="{FF2B5EF4-FFF2-40B4-BE49-F238E27FC236}">
                <a16:creationId xmlns:a16="http://schemas.microsoft.com/office/drawing/2014/main" id="{A1DFF032-6A11-4FE7-8460-94203B498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A7D70D4A-C42B-41BC-B33B-5EEA3758CD1E}" type="slidenum">
              <a:rPr lang="en-US" altLang="zh-CN">
                <a:latin typeface="Times New Roman" panose="02020603050405020304" pitchFamily="18" charset="0"/>
              </a:rPr>
              <a:pPr/>
              <a:t>8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>
            <a:extLst>
              <a:ext uri="{FF2B5EF4-FFF2-40B4-BE49-F238E27FC236}">
                <a16:creationId xmlns:a16="http://schemas.microsoft.com/office/drawing/2014/main" id="{82226BB2-6ED0-4922-82D6-7C6B092368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备注占位符 2">
            <a:extLst>
              <a:ext uri="{FF2B5EF4-FFF2-40B4-BE49-F238E27FC236}">
                <a16:creationId xmlns:a16="http://schemas.microsoft.com/office/drawing/2014/main" id="{056253D8-61A0-428C-9ACD-CC0ABC5A78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如果当前位置走过的话，换句话说，当前位置是栈顶的位置。</a:t>
            </a:r>
          </a:p>
        </p:txBody>
      </p:sp>
      <p:sp>
        <p:nvSpPr>
          <p:cNvPr id="64516" name="灯片编号占位符 3">
            <a:extLst>
              <a:ext uri="{FF2B5EF4-FFF2-40B4-BE49-F238E27FC236}">
                <a16:creationId xmlns:a16="http://schemas.microsoft.com/office/drawing/2014/main" id="{200E28AF-4EA4-4262-8639-B9624052D9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E7974140-6AEC-4024-AC4A-4B602EFA7B11}" type="slidenum">
              <a:rPr lang="en-US" altLang="zh-CN">
                <a:latin typeface="Times New Roman" panose="02020603050405020304" pitchFamily="18" charset="0"/>
              </a:rPr>
              <a:pPr/>
              <a:t>9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>
            <a:extLst>
              <a:ext uri="{FF2B5EF4-FFF2-40B4-BE49-F238E27FC236}">
                <a16:creationId xmlns:a16="http://schemas.microsoft.com/office/drawing/2014/main" id="{9714CC95-2288-4AC6-ADFD-58B4A72475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备注占位符 2">
            <a:extLst>
              <a:ext uri="{FF2B5EF4-FFF2-40B4-BE49-F238E27FC236}">
                <a16:creationId xmlns:a16="http://schemas.microsoft.com/office/drawing/2014/main" id="{ABC9AF86-7BB9-433D-924B-A1911480B8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05000"/>
              </a:lnSpc>
              <a:spcBef>
                <a:spcPct val="0"/>
              </a:spcBef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设定当前位置的初值为入口位置；</a:t>
            </a:r>
          </a:p>
          <a:p>
            <a:pPr>
              <a:lnSpc>
                <a:spcPct val="105000"/>
              </a:lnSpc>
              <a:spcBef>
                <a:spcPct val="0"/>
              </a:spcBef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en-US" altLang="zh-CN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do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｛</a:t>
            </a:r>
            <a:endParaRPr kumimoji="1" lang="zh-CN" altLang="en-US">
              <a:solidFill>
                <a:srgbClr val="A50021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05000"/>
              </a:lnSpc>
              <a:spcBef>
                <a:spcPct val="0"/>
              </a:spcBef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若当前没探索过</a:t>
            </a: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</a:p>
          <a:p>
            <a:pPr>
              <a:lnSpc>
                <a:spcPct val="105000"/>
              </a:lnSpc>
              <a:spcBef>
                <a:spcPct val="0"/>
              </a:spcBef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则｛</a:t>
            </a: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将当前位置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插入栈顶</a:t>
            </a: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；</a:t>
            </a:r>
            <a:r>
              <a:rPr kumimoji="1" lang="en-US" altLang="zh-CN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纳入路径</a:t>
            </a: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>
              <a:lnSpc>
                <a:spcPct val="105000"/>
              </a:lnSpc>
              <a:spcBef>
                <a:spcPct val="0"/>
              </a:spcBef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若</a:t>
            </a: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该位置是出口位置，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则</a:t>
            </a: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结束；</a:t>
            </a:r>
            <a:endParaRPr kumimoji="1" lang="en-US" altLang="zh-CN">
              <a:solidFill>
                <a:srgbClr val="A50021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05000"/>
              </a:lnSpc>
              <a:spcBef>
                <a:spcPct val="0"/>
              </a:spcBef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           </a:t>
            </a:r>
            <a:r>
              <a:rPr kumimoji="1" lang="en-US" altLang="zh-CN">
                <a:latin typeface="楷体_GB2312" pitchFamily="49" charset="-122"/>
                <a:ea typeface="楷体_GB2312" pitchFamily="49" charset="-122"/>
              </a:rPr>
              <a:t>//</a:t>
            </a: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求得路径存放在栈中</a:t>
            </a:r>
          </a:p>
          <a:p>
            <a:pPr>
              <a:lnSpc>
                <a:spcPct val="105000"/>
              </a:lnSpc>
              <a:spcBef>
                <a:spcPct val="0"/>
              </a:spcBef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否则切换</a:t>
            </a: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当前位置的东邻方块为新的当前位</a:t>
            </a:r>
            <a:endParaRPr kumimoji="1" lang="en-US" altLang="zh-CN">
              <a:solidFill>
                <a:srgbClr val="A50021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05000"/>
              </a:lnSpc>
              <a:spcBef>
                <a:spcPct val="0"/>
              </a:spcBef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     置；</a:t>
            </a:r>
          </a:p>
          <a:p>
            <a:pPr>
              <a:lnSpc>
                <a:spcPct val="105000"/>
              </a:lnSpc>
              <a:spcBef>
                <a:spcPct val="0"/>
              </a:spcBef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｝</a:t>
            </a:r>
            <a:endParaRPr kumimoji="1" lang="zh-CN" altLang="en-US">
              <a:solidFill>
                <a:srgbClr val="A50021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05000"/>
              </a:lnSpc>
              <a:spcBef>
                <a:spcPct val="0"/>
              </a:spcBef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否则  </a:t>
            </a:r>
            <a:r>
              <a:rPr kumimoji="1" lang="en-US" altLang="zh-CN">
                <a:latin typeface="楷体_GB2312" pitchFamily="49" charset="-122"/>
                <a:ea typeface="楷体_GB2312" pitchFamily="49" charset="-122"/>
              </a:rPr>
              <a:t>//</a:t>
            </a: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当前位置探索过</a:t>
            </a:r>
            <a:endParaRPr kumimoji="1" lang="en-US" altLang="zh-CN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1" lang="zh-CN" altLang="en-US" b="1">
                <a:solidFill>
                  <a:srgbClr val="660033"/>
                </a:solidFill>
                <a:latin typeface="Times New Roman" panose="02020603050405020304" pitchFamily="18" charset="0"/>
                <a:ea typeface="楷体_GB2312" pitchFamily="49" charset="-122"/>
              </a:rPr>
              <a:t>栈不空且栈顶位置尚有其他方向未被探索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    则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设定新的当前位置为</a:t>
            </a:r>
            <a:r>
              <a:rPr kumimoji="1" lang="en-US" altLang="zh-CN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沿顺时针方向旋转找到的</a:t>
            </a: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栈顶位置的下一相邻块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kumimoji="1" lang="en-US" altLang="zh-CN">
              <a:solidFill>
                <a:srgbClr val="A5002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1" lang="zh-CN" altLang="en-US" b="1">
                <a:solidFill>
                  <a:srgbClr val="660033"/>
                </a:solidFill>
                <a:latin typeface="Times New Roman" panose="02020603050405020304" pitchFamily="18" charset="0"/>
                <a:ea typeface="楷体_GB2312" pitchFamily="49" charset="-122"/>
              </a:rPr>
              <a:t>栈不空但栈顶位置的四周均不可通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则｛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删去栈顶位置；</a:t>
            </a:r>
            <a:r>
              <a:rPr kumimoji="1" lang="en-US" altLang="zh-CN">
                <a:latin typeface="Times New Roman" panose="02020603050405020304" pitchFamily="18" charset="0"/>
                <a:ea typeface="楷体_GB2312" pitchFamily="49" charset="-122"/>
              </a:rPr>
              <a:t>// </a:t>
            </a:r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从路径中删去该通道块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栈不空，</a:t>
            </a: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重新测试新的栈顶位置，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</a:t>
            </a: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直至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找到一个可通的相邻块或出栈至栈空；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      ｝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kumimoji="1" lang="zh-CN" altLang="en-US" b="1">
                <a:solidFill>
                  <a:srgbClr val="A50021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｝</a:t>
            </a:r>
            <a:r>
              <a:rPr kumimoji="1" lang="en-US" altLang="zh-CN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while(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栈不空</a:t>
            </a:r>
            <a:r>
              <a:rPr kumimoji="1" lang="en-US" altLang="zh-CN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endParaRPr kumimoji="1" lang="zh-CN" altLang="en-US">
              <a:solidFill>
                <a:srgbClr val="A5002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05000"/>
              </a:lnSpc>
              <a:spcBef>
                <a:spcPct val="0"/>
              </a:spcBef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564" name="灯片编号占位符 3">
            <a:extLst>
              <a:ext uri="{FF2B5EF4-FFF2-40B4-BE49-F238E27FC236}">
                <a16:creationId xmlns:a16="http://schemas.microsoft.com/office/drawing/2014/main" id="{6EF0863B-99D2-4B3A-A699-3DADF9502E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D97D4802-76D3-4877-83EC-EB5E446461FD}" type="slidenum">
              <a:rPr lang="en-US" altLang="zh-CN">
                <a:latin typeface="Times New Roman" panose="02020603050405020304" pitchFamily="18" charset="0"/>
              </a:rPr>
              <a:pPr/>
              <a:t>10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2020/4/4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2940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2020/4/4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395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2020/4/4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009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2020/4/4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157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2020/4/4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588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2020/4/4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390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2020/4/4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792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958ECB7-02C8-4471-9AAE-3D6DA83E3DED}" type="datetimeFigureOut">
              <a:rPr lang="zh-CN" altLang="en-US" smtClean="0"/>
              <a:t>2020/4/4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17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2020/4/4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342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2020/4/4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767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2020/4/4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410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958ECB7-02C8-4471-9AAE-3D6DA83E3DED}" type="datetimeFigureOut">
              <a:rPr lang="zh-CN" altLang="en-US" smtClean="0"/>
              <a:t>2020/4/4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023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oleObject" Target="../embeddings/Microsoft_Word_97_-_2003_Document.doc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B0164C-3A60-4C3D-803F-7C3432BB1B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实验课 </a:t>
            </a:r>
            <a:r>
              <a:rPr lang="en-US" altLang="zh-CN" dirty="0"/>
              <a:t>Week 5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4064A5-F00F-4FF2-9A73-2C37B11A49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13469" y="4968238"/>
            <a:ext cx="2626822" cy="476598"/>
          </a:xfrm>
        </p:spPr>
        <p:txBody>
          <a:bodyPr/>
          <a:lstStyle/>
          <a:p>
            <a:r>
              <a:rPr lang="zh-CN" altLang="en-US" dirty="0"/>
              <a:t>助教：薛俊龙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11E668B-8F53-448E-9224-BEDF43C233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388" y="172236"/>
            <a:ext cx="1587624" cy="92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461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7879" y="289054"/>
            <a:ext cx="10515600" cy="997555"/>
          </a:xfrm>
        </p:spPr>
        <p:txBody>
          <a:bodyPr>
            <a:normAutofit/>
          </a:bodyPr>
          <a:lstStyle/>
          <a:p>
            <a:r>
              <a: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</a:rPr>
              <a:t>实验内容</a:t>
            </a: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388" y="172236"/>
            <a:ext cx="1587624" cy="920822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EB6EC4EB-3001-4A6A-97AE-BCA444504699}"/>
              </a:ext>
            </a:extLst>
          </p:cNvPr>
          <p:cNvSpPr txBox="1"/>
          <p:nvPr/>
        </p:nvSpPr>
        <p:spPr>
          <a:xfrm>
            <a:off x="568036" y="1953491"/>
            <a:ext cx="103535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</a:rPr>
              <a:t>	利用栈的迷宫求解（需要编写可运行程序）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endParaRPr lang="zh-CN" altLang="en-US" sz="2400" dirty="0">
              <a:latin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</a:rPr>
              <a:t>   参照课件内容和上课直播录像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endParaRPr lang="en-US" altLang="zh-CN" sz="2400" dirty="0">
              <a:latin typeface="宋体" panose="02010600030101010101" pitchFamily="2" charset="-122"/>
            </a:endParaRPr>
          </a:p>
          <a:p>
            <a:r>
              <a:rPr lang="en-US" altLang="zh-CN" sz="2400" dirty="0">
                <a:latin typeface="宋体" panose="02010600030101010101" pitchFamily="2" charset="-122"/>
              </a:rPr>
              <a:t>	</a:t>
            </a:r>
            <a:r>
              <a:rPr lang="zh-CN" altLang="en-US" sz="2400" dirty="0">
                <a:latin typeface="宋体" panose="02010600030101010101" pitchFamily="2" charset="-122"/>
              </a:rPr>
              <a:t>实验时间为两周，本周不交实验报告</a:t>
            </a:r>
          </a:p>
        </p:txBody>
      </p:sp>
    </p:spTree>
    <p:extLst>
      <p:ext uri="{BB962C8B-B14F-4D97-AF65-F5344CB8AC3E}">
        <p14:creationId xmlns:p14="http://schemas.microsoft.com/office/powerpoint/2010/main" val="3681352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3">
            <a:extLst>
              <a:ext uri="{FF2B5EF4-FFF2-40B4-BE49-F238E27FC236}">
                <a16:creationId xmlns:a16="http://schemas.microsoft.com/office/drawing/2014/main" id="{DAD5B2C5-1005-4D76-9E50-E94394EDD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0" y="401639"/>
            <a:ext cx="31369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3200" b="1">
                <a:solidFill>
                  <a:srgbClr val="FF5050"/>
                </a:solidFill>
                <a:latin typeface="Times New Roman" panose="02020603050405020304" pitchFamily="18" charset="0"/>
                <a:ea typeface="楷体_GB2312" pitchFamily="49" charset="-122"/>
              </a:rPr>
              <a:t>3.2.4     </a:t>
            </a:r>
            <a:r>
              <a:rPr kumimoji="1" lang="zh-CN" altLang="en-US" sz="3200" b="1">
                <a:solidFill>
                  <a:srgbClr val="FF5050"/>
                </a:solidFill>
                <a:latin typeface="Times New Roman" panose="02020603050405020304" pitchFamily="18" charset="0"/>
                <a:ea typeface="楷体_GB2312" pitchFamily="49" charset="-122"/>
              </a:rPr>
              <a:t>迷宫求解</a:t>
            </a:r>
            <a:endParaRPr kumimoji="1" lang="zh-CN" altLang="en-US" sz="32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2227" name="Text Box 4">
            <a:extLst>
              <a:ext uri="{FF2B5EF4-FFF2-40B4-BE49-F238E27FC236}">
                <a16:creationId xmlns:a16="http://schemas.microsoft.com/office/drawing/2014/main" id="{E130AA59-4307-4261-BF6D-00236D51E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1" y="1012825"/>
            <a:ext cx="521168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通常用的是</a:t>
            </a:r>
            <a:r>
              <a:rPr kumimoji="1" lang="zh-CN" altLang="en-US" b="1">
                <a:latin typeface="Times New Roman" panose="02020603050405020304" pitchFamily="18" charset="0"/>
                <a:ea typeface="楷体_GB2312" pitchFamily="49" charset="-122"/>
              </a:rPr>
              <a:t>“穷举求解”</a:t>
            </a:r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的方法</a:t>
            </a:r>
          </a:p>
        </p:txBody>
      </p:sp>
      <p:graphicFrame>
        <p:nvGraphicFramePr>
          <p:cNvPr id="52228" name="Object 5">
            <a:extLst>
              <a:ext uri="{FF2B5EF4-FFF2-40B4-BE49-F238E27FC236}">
                <a16:creationId xmlns:a16="http://schemas.microsoft.com/office/drawing/2014/main" id="{FC5A4D0A-E53B-4C06-A6DE-5CA9ECF175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1676401"/>
          <a:ext cx="8305800" cy="517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文档" r:id="rId4" imgW="4248150" imgH="2790825" progId="Word.Document.8">
                  <p:embed/>
                </p:oleObj>
              </mc:Choice>
              <mc:Fallback>
                <p:oleObj name="文档" r:id="rId4" imgW="4248150" imgH="2790825" progId="Word.Document.8">
                  <p:embed/>
                  <p:pic>
                    <p:nvPicPr>
                      <p:cNvPr id="52228" name="Object 5">
                        <a:extLst>
                          <a:ext uri="{FF2B5EF4-FFF2-40B4-BE49-F238E27FC236}">
                            <a16:creationId xmlns:a16="http://schemas.microsoft.com/office/drawing/2014/main" id="{FC5A4D0A-E53B-4C06-A6DE-5CA9ECF175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676401"/>
                        <a:ext cx="8305800" cy="517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D0FA5352-9F31-4CA9-8229-FD6D09F49A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919288" y="630239"/>
            <a:ext cx="5326062" cy="892175"/>
          </a:xfrm>
        </p:spPr>
        <p:txBody>
          <a:bodyPr/>
          <a:lstStyle/>
          <a:p>
            <a:pPr eaLnBrk="1" hangingPunct="1"/>
            <a:r>
              <a:rPr lang="zh-CN" altLang="en-US" sz="2800">
                <a:ea typeface="楷体_GB2312" pitchFamily="49" charset="-122"/>
              </a:rPr>
              <a:t>求迷宫路径算法的</a:t>
            </a:r>
            <a:r>
              <a:rPr lang="zh-CN" altLang="en-US" sz="2800" b="1">
                <a:ea typeface="楷体_GB2312" pitchFamily="49" charset="-122"/>
              </a:rPr>
              <a:t>基本思想</a:t>
            </a:r>
            <a:r>
              <a:rPr lang="zh-CN" altLang="en-US" sz="2800">
                <a:ea typeface="楷体_GB2312" pitchFamily="49" charset="-122"/>
              </a:rPr>
              <a:t>是：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1D926E5C-D539-4D19-93A8-06CFA56FEB86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2216150" y="1639888"/>
            <a:ext cx="7773988" cy="576262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若当前位置</a:t>
            </a:r>
            <a:r>
              <a:rPr lang="zh-CN" altLang="en-US" b="1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</a:rPr>
              <a:t>“</a:t>
            </a:r>
            <a:r>
              <a:rPr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可通</a:t>
            </a:r>
            <a:r>
              <a:rPr lang="zh-CN" altLang="en-US" b="1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</a:rPr>
              <a:t>”</a:t>
            </a:r>
            <a:r>
              <a:rPr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，则纳入路径，继续前进</a:t>
            </a:r>
            <a:r>
              <a:rPr lang="en-US" altLang="zh-CN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;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4276" name="Rectangle 4">
            <a:extLst>
              <a:ext uri="{FF2B5EF4-FFF2-40B4-BE49-F238E27FC236}">
                <a16:creationId xmlns:a16="http://schemas.microsoft.com/office/drawing/2014/main" id="{E13C8DB7-715B-4CDB-B998-8440E2524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344739"/>
            <a:ext cx="7773988" cy="101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20000"/>
              </a:spcBef>
              <a:buFontTx/>
              <a:buChar char="•"/>
            </a:pPr>
            <a:r>
              <a:rPr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若当前位置</a:t>
            </a:r>
            <a:r>
              <a:rPr lang="zh-CN" altLang="en-US" b="1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</a:rPr>
              <a:t>“</a:t>
            </a:r>
            <a:r>
              <a:rPr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不可通</a:t>
            </a:r>
            <a:r>
              <a:rPr lang="zh-CN" altLang="en-US" b="1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</a:rPr>
              <a:t>”</a:t>
            </a:r>
            <a:r>
              <a:rPr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，则后退，换方向继续探索</a:t>
            </a:r>
            <a:r>
              <a:rPr lang="en-US" altLang="zh-CN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;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4277" name="Rectangle 5">
            <a:extLst>
              <a:ext uri="{FF2B5EF4-FFF2-40B4-BE49-F238E27FC236}">
                <a16:creationId xmlns:a16="http://schemas.microsoft.com/office/drawing/2014/main" id="{26DF2EF4-A436-4597-B5A3-4A3BDDDE9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354389"/>
            <a:ext cx="7773988" cy="101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20000"/>
              </a:spcBef>
              <a:buFontTx/>
              <a:buChar char="•"/>
            </a:pPr>
            <a:r>
              <a:rPr lang="zh-CN" altLang="en-US" b="1">
                <a:solidFill>
                  <a:srgbClr val="A50021"/>
                </a:solidFill>
                <a:latin typeface="Comic Sans MS" panose="030F0702030302020204" pitchFamily="66" charset="0"/>
                <a:ea typeface="楷体_GB2312" pitchFamily="49" charset="-122"/>
              </a:rPr>
              <a:t>若四周</a:t>
            </a:r>
            <a:r>
              <a:rPr lang="zh-CN" altLang="en-US" b="1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</a:rPr>
              <a:t>“</a:t>
            </a:r>
            <a:r>
              <a:rPr lang="zh-CN" altLang="en-US" b="1">
                <a:solidFill>
                  <a:srgbClr val="A50021"/>
                </a:solidFill>
                <a:latin typeface="Comic Sans MS" panose="030F0702030302020204" pitchFamily="66" charset="0"/>
                <a:ea typeface="楷体_GB2312" pitchFamily="49" charset="-122"/>
              </a:rPr>
              <a:t>均无通路</a:t>
            </a:r>
            <a:r>
              <a:rPr lang="zh-CN" altLang="en-US" b="1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</a:rPr>
              <a:t>”</a:t>
            </a:r>
            <a:r>
              <a:rPr lang="zh-CN" altLang="en-US" b="1">
                <a:solidFill>
                  <a:srgbClr val="A50021"/>
                </a:solidFill>
                <a:latin typeface="Comic Sans MS" panose="030F0702030302020204" pitchFamily="66" charset="0"/>
                <a:ea typeface="楷体_GB2312" pitchFamily="49" charset="-122"/>
              </a:rPr>
              <a:t>，则将当前位置从路径中删除出去。</a:t>
            </a:r>
            <a:endParaRPr lang="zh-CN" altLang="en-US" b="1">
              <a:latin typeface="Comic Sans MS" panose="030F0702030302020204" pitchFamily="66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5">
            <a:extLst>
              <a:ext uri="{FF2B5EF4-FFF2-40B4-BE49-F238E27FC236}">
                <a16:creationId xmlns:a16="http://schemas.microsoft.com/office/drawing/2014/main" id="{06066CC9-4433-45FE-A8EF-27D4BEC0B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8" y="1123951"/>
            <a:ext cx="8064500" cy="458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设定当前位置的初值为入口位置；</a:t>
            </a:r>
          </a:p>
          <a:p>
            <a:pPr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en-US" altLang="zh-CN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do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｛</a:t>
            </a:r>
            <a:endParaRPr kumimoji="1" lang="zh-CN" altLang="en-US">
              <a:solidFill>
                <a:srgbClr val="A50021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若当前没探索过且可通</a:t>
            </a: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</a:p>
          <a:p>
            <a:pPr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则｛</a:t>
            </a: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将当前位置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插入栈顶</a:t>
            </a: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；</a:t>
            </a:r>
            <a:r>
              <a:rPr kumimoji="1" lang="en-US" altLang="zh-CN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纳入路径</a:t>
            </a: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若</a:t>
            </a: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该位置是出口位置，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则</a:t>
            </a: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结束；</a:t>
            </a:r>
            <a:endParaRPr kumimoji="1" lang="en-US" altLang="zh-CN">
              <a:solidFill>
                <a:srgbClr val="A50021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           </a:t>
            </a:r>
            <a:r>
              <a:rPr kumimoji="1" lang="en-US" altLang="zh-CN">
                <a:latin typeface="楷体_GB2312" pitchFamily="49" charset="-122"/>
                <a:ea typeface="楷体_GB2312" pitchFamily="49" charset="-122"/>
              </a:rPr>
              <a:t>//</a:t>
            </a: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求得路径存放在栈中</a:t>
            </a:r>
          </a:p>
          <a:p>
            <a:pPr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否则切换</a:t>
            </a: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当前位置的东邻方块为新的当前位</a:t>
            </a:r>
            <a:endParaRPr kumimoji="1" lang="en-US" altLang="zh-CN">
              <a:solidFill>
                <a:srgbClr val="A50021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     置；</a:t>
            </a:r>
          </a:p>
          <a:p>
            <a:pPr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｝</a:t>
            </a:r>
            <a:endParaRPr kumimoji="1" lang="zh-CN" altLang="en-US">
              <a:solidFill>
                <a:srgbClr val="A50021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05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zh-CN" altLang="en-US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否则  </a:t>
            </a:r>
            <a:r>
              <a:rPr kumimoji="1" lang="en-US" altLang="zh-CN">
                <a:latin typeface="楷体_GB2312" pitchFamily="49" charset="-122"/>
                <a:ea typeface="楷体_GB2312" pitchFamily="49" charset="-122"/>
              </a:rPr>
              <a:t>//</a:t>
            </a: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当前位置探索过，或不可通</a:t>
            </a:r>
          </a:p>
        </p:txBody>
      </p:sp>
      <p:sp>
        <p:nvSpPr>
          <p:cNvPr id="56323" name="Text Box 6">
            <a:extLst>
              <a:ext uri="{FF2B5EF4-FFF2-40B4-BE49-F238E27FC236}">
                <a16:creationId xmlns:a16="http://schemas.microsoft.com/office/drawing/2014/main" id="{BD5E5AB7-DAFE-434B-897F-4A30087C9B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461963"/>
            <a:ext cx="7223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CN" altLang="en-US" b="1">
                <a:latin typeface="楷体_GB2312" pitchFamily="49" charset="-122"/>
                <a:ea typeface="楷体_GB2312" pitchFamily="49" charset="-122"/>
              </a:rPr>
              <a:t>求迷宫中一条从入口到出口的路径的算法：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5">
            <a:extLst>
              <a:ext uri="{FF2B5EF4-FFF2-40B4-BE49-F238E27FC236}">
                <a16:creationId xmlns:a16="http://schemas.microsoft.com/office/drawing/2014/main" id="{3A98337C-B33A-474E-A64E-AF962E0CC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4701" y="457201"/>
            <a:ext cx="8012113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1" lang="zh-CN" altLang="en-US" b="1">
                <a:solidFill>
                  <a:srgbClr val="660033"/>
                </a:solidFill>
                <a:latin typeface="Times New Roman" panose="02020603050405020304" pitchFamily="18" charset="0"/>
                <a:ea typeface="楷体_GB2312" pitchFamily="49" charset="-122"/>
              </a:rPr>
              <a:t>栈不空且栈顶位置尚有其他方向未被探索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    则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设定新的当前位置为</a:t>
            </a:r>
            <a:r>
              <a:rPr kumimoji="1" lang="en-US" altLang="zh-CN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沿顺时针方向旋转找到的</a:t>
            </a: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栈顶位置的下一相邻块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</p:txBody>
      </p:sp>
      <p:sp>
        <p:nvSpPr>
          <p:cNvPr id="57347" name="Text Box 6">
            <a:extLst>
              <a:ext uri="{FF2B5EF4-FFF2-40B4-BE49-F238E27FC236}">
                <a16:creationId xmlns:a16="http://schemas.microsoft.com/office/drawing/2014/main" id="{029CEAF2-2590-436B-B3C5-C55C83196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8825" y="1989138"/>
            <a:ext cx="8027988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1" lang="zh-CN" altLang="en-US" b="1">
                <a:solidFill>
                  <a:srgbClr val="660033"/>
                </a:solidFill>
                <a:latin typeface="Times New Roman" panose="02020603050405020304" pitchFamily="18" charset="0"/>
                <a:ea typeface="楷体_GB2312" pitchFamily="49" charset="-122"/>
              </a:rPr>
              <a:t>栈不空但栈顶位置的四周均不可通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则｛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删去栈顶位置；</a:t>
            </a:r>
            <a:r>
              <a:rPr kumimoji="1" lang="en-US" altLang="zh-CN">
                <a:latin typeface="Times New Roman" panose="02020603050405020304" pitchFamily="18" charset="0"/>
                <a:ea typeface="楷体_GB2312" pitchFamily="49" charset="-122"/>
              </a:rPr>
              <a:t>// </a:t>
            </a:r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从路径中删去该通道块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栈不空，</a:t>
            </a: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重新测试新的栈顶位置，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</a:t>
            </a: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直至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找到一个可通的相邻块或出栈至栈空；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      ｝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rgbClr val="A50021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｝</a:t>
            </a:r>
            <a:r>
              <a:rPr kumimoji="1" lang="en-US" altLang="zh-CN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while(</a:t>
            </a:r>
            <a:r>
              <a:rPr kumimoji="1" lang="zh-CN" altLang="en-US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栈不空</a:t>
            </a:r>
            <a:r>
              <a:rPr kumimoji="1" lang="en-US" altLang="zh-CN" b="1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</p:txBody>
      </p:sp>
      <p:sp>
        <p:nvSpPr>
          <p:cNvPr id="57348" name="Text Box 7">
            <a:extLst>
              <a:ext uri="{FF2B5EF4-FFF2-40B4-BE49-F238E27FC236}">
                <a16:creationId xmlns:a16="http://schemas.microsoft.com/office/drawing/2014/main" id="{7057A2B0-E63B-4BE9-A72C-BFD82A2C3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4063" y="5300663"/>
            <a:ext cx="56880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1" lang="zh-CN" altLang="en-US" b="1">
                <a:solidFill>
                  <a:srgbClr val="660033"/>
                </a:solidFill>
                <a:latin typeface="Times New Roman" panose="02020603050405020304" pitchFamily="18" charset="0"/>
                <a:ea typeface="楷体_GB2312" pitchFamily="49" charset="-122"/>
              </a:rPr>
              <a:t>栈空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1" lang="zh-CN" altLang="en-US" b="1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1" lang="zh-CN" altLang="en-US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表明迷宫没有通路。</a:t>
            </a:r>
            <a:endParaRPr kumimoji="1"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3">
            <a:extLst>
              <a:ext uri="{FF2B5EF4-FFF2-40B4-BE49-F238E27FC236}">
                <a16:creationId xmlns:a16="http://schemas.microsoft.com/office/drawing/2014/main" id="{65F824DE-3B8B-4176-BDB5-66192AEC5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188" y="692151"/>
            <a:ext cx="8424862" cy="56165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typedef struct{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int </a:t>
            </a:r>
            <a:r>
              <a:rPr lang="en-US" altLang="zh-CN" sz="2400" dirty="0" err="1">
                <a:latin typeface="Times New Roman" panose="02020603050405020304" pitchFamily="18" charset="0"/>
              </a:rPr>
              <a:t>ord</a:t>
            </a:r>
            <a:r>
              <a:rPr lang="en-US" altLang="zh-CN" sz="2400" dirty="0">
                <a:latin typeface="Times New Roman" panose="02020603050405020304" pitchFamily="18" charset="0"/>
              </a:rPr>
              <a:t>;                      </a:t>
            </a:r>
            <a:r>
              <a:rPr lang="en-US" altLang="zh-CN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通道块在路经上的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序号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endParaRPr lang="zh-CN" altLang="en-US" sz="240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   </a:t>
            </a:r>
            <a:r>
              <a:rPr lang="en-US" altLang="zh-CN" sz="2400" dirty="0" err="1">
                <a:latin typeface="Times New Roman" panose="02020603050405020304" pitchFamily="18" charset="0"/>
              </a:rPr>
              <a:t>PosType</a:t>
            </a:r>
            <a:r>
              <a:rPr lang="en-US" altLang="zh-CN" sz="2400" dirty="0">
                <a:latin typeface="Times New Roman" panose="02020603050405020304" pitchFamily="18" charset="0"/>
              </a:rPr>
              <a:t> seat;      </a:t>
            </a:r>
            <a:r>
              <a:rPr lang="en-US" altLang="zh-CN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通道块在迷宫中的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坐标位置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endParaRPr lang="zh-CN" altLang="en-US" sz="240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   </a:t>
            </a:r>
            <a:r>
              <a:rPr lang="en-US" altLang="zh-CN" sz="2400" dirty="0">
                <a:latin typeface="Times New Roman" panose="02020603050405020304" pitchFamily="18" charset="0"/>
              </a:rPr>
              <a:t>int di;          </a:t>
            </a:r>
            <a:r>
              <a:rPr lang="en-US" altLang="zh-CN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从此</a:t>
            </a:r>
            <a:r>
              <a:rPr lang="zh-CN" altLang="en-US" sz="2400" i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通道块走向下一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通道块的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方向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endParaRPr lang="zh-CN" altLang="en-US" sz="240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}</a:t>
            </a:r>
            <a:r>
              <a:rPr lang="en-US" altLang="zh-CN" sz="2400" dirty="0" err="1">
                <a:latin typeface="Times New Roman" panose="02020603050405020304" pitchFamily="18" charset="0"/>
              </a:rPr>
              <a:t>SElemType</a:t>
            </a:r>
            <a:r>
              <a:rPr lang="en-US" altLang="zh-CN" sz="2400" dirty="0">
                <a:latin typeface="Times New Roman" panose="02020603050405020304" pitchFamily="18" charset="0"/>
              </a:rPr>
              <a:t>;                            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栈的元素类型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Status </a:t>
            </a:r>
            <a:r>
              <a:rPr lang="en-US" altLang="zh-CN" sz="2400" dirty="0" err="1">
                <a:latin typeface="Times New Roman" panose="02020603050405020304" pitchFamily="18" charset="0"/>
              </a:rPr>
              <a:t>MazePath</a:t>
            </a:r>
            <a:r>
              <a:rPr lang="en-US" altLang="zh-CN" sz="2400" dirty="0">
                <a:latin typeface="Times New Roman" panose="02020603050405020304" pitchFamily="18" charset="0"/>
              </a:rPr>
              <a:t> (</a:t>
            </a:r>
            <a:r>
              <a:rPr lang="en-US" altLang="zh-CN" sz="2400" dirty="0" err="1">
                <a:latin typeface="Times New Roman" panose="02020603050405020304" pitchFamily="18" charset="0"/>
              </a:rPr>
              <a:t>MazeType</a:t>
            </a:r>
            <a:r>
              <a:rPr lang="en-US" altLang="zh-CN" sz="2400" dirty="0">
                <a:latin typeface="Times New Roman" panose="02020603050405020304" pitchFamily="18" charset="0"/>
              </a:rPr>
              <a:t> maze, </a:t>
            </a:r>
            <a:r>
              <a:rPr lang="en-US" altLang="zh-CN" sz="2400" dirty="0" err="1">
                <a:latin typeface="Times New Roman" panose="02020603050405020304" pitchFamily="18" charset="0"/>
              </a:rPr>
              <a:t>PosType</a:t>
            </a:r>
            <a:r>
              <a:rPr lang="en-US" altLang="zh-CN" sz="2400" dirty="0">
                <a:latin typeface="Times New Roman" panose="02020603050405020304" pitchFamily="18" charset="0"/>
              </a:rPr>
              <a:t> start, </a:t>
            </a:r>
            <a:r>
              <a:rPr lang="en-US" altLang="zh-CN" sz="2400" dirty="0" err="1">
                <a:latin typeface="Times New Roman" panose="02020603050405020304" pitchFamily="18" charset="0"/>
              </a:rPr>
              <a:t>PosType</a:t>
            </a:r>
            <a:r>
              <a:rPr lang="en-US" altLang="zh-CN" sz="2400" dirty="0">
                <a:latin typeface="Times New Roman" panose="02020603050405020304" pitchFamily="18" charset="0"/>
              </a:rPr>
              <a:t> end){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//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若迷宫</a:t>
            </a:r>
            <a:r>
              <a:rPr lang="en-US" altLang="zh-CN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maze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中存在从入口</a:t>
            </a:r>
            <a:r>
              <a:rPr lang="en-US" altLang="zh-CN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start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到出口</a:t>
            </a:r>
            <a:r>
              <a:rPr lang="en-US" altLang="zh-CN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end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的通道，则求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en-US" altLang="zh-CN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得一条存放在栈中（从栈底到栈顶），并返回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en-US" altLang="zh-CN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// TRUE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；否则返回</a:t>
            </a:r>
            <a:r>
              <a:rPr lang="en-US" altLang="zh-CN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FALSE</a:t>
            </a: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</a:t>
            </a:r>
            <a:r>
              <a:rPr lang="en-US" altLang="zh-CN" sz="2400" dirty="0" err="1">
                <a:latin typeface="Times New Roman" panose="02020603050405020304" pitchFamily="18" charset="0"/>
              </a:rPr>
              <a:t>InitStack</a:t>
            </a:r>
            <a:r>
              <a:rPr lang="en-US" altLang="zh-CN" sz="2400" dirty="0">
                <a:latin typeface="Times New Roman" panose="02020603050405020304" pitchFamily="18" charset="0"/>
              </a:rPr>
              <a:t> (S);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//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设定“当前位置”为“入口位置”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2400" dirty="0" err="1">
                <a:latin typeface="Times New Roman" panose="02020603050405020304" pitchFamily="18" charset="0"/>
              </a:rPr>
              <a:t>curpos</a:t>
            </a:r>
            <a:r>
              <a:rPr lang="en-US" altLang="zh-CN" sz="2400" dirty="0">
                <a:latin typeface="Times New Roman" panose="02020603050405020304" pitchFamily="18" charset="0"/>
              </a:rPr>
              <a:t>=start;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      </a:t>
            </a:r>
            <a:r>
              <a:rPr lang="en-US" altLang="zh-CN" sz="2400" dirty="0" err="1">
                <a:latin typeface="Times New Roman" panose="02020603050405020304" pitchFamily="18" charset="0"/>
              </a:rPr>
              <a:t>curstep</a:t>
            </a:r>
            <a:r>
              <a:rPr lang="en-US" altLang="zh-CN" sz="2400" dirty="0">
                <a:latin typeface="Times New Roman" panose="02020603050405020304" pitchFamily="18" charset="0"/>
              </a:rPr>
              <a:t>=1;                          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//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探索第一步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3">
            <a:extLst>
              <a:ext uri="{FF2B5EF4-FFF2-40B4-BE49-F238E27FC236}">
                <a16:creationId xmlns:a16="http://schemas.microsoft.com/office/drawing/2014/main" id="{B91EEC04-ED7D-4C34-9C4F-BCD37447B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9913" y="1857377"/>
            <a:ext cx="8058150" cy="4345304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do{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 if (Pass (</a:t>
            </a:r>
            <a:r>
              <a:rPr lang="en-US" altLang="zh-CN" dirty="0" err="1">
                <a:latin typeface="Times New Roman" panose="02020603050405020304" pitchFamily="18" charset="0"/>
                <a:ea typeface="楷体_GB2312" pitchFamily="49" charset="-122"/>
              </a:rPr>
              <a:t>curpos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))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当前位置未曾走到过的通道块且可通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en-US" altLang="zh-CN" dirty="0" err="1">
                <a:latin typeface="Times New Roman" panose="02020603050405020304" pitchFamily="18" charset="0"/>
                <a:ea typeface="楷体_GB2312" pitchFamily="49" charset="-122"/>
              </a:rPr>
              <a:t>FootPrint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 (</a:t>
            </a:r>
            <a:r>
              <a:rPr lang="en-US" altLang="zh-CN" dirty="0" err="1">
                <a:latin typeface="Times New Roman" panose="02020603050405020304" pitchFamily="18" charset="0"/>
                <a:ea typeface="楷体_GB2312" pitchFamily="49" charset="-122"/>
              </a:rPr>
              <a:t>curpos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);               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留下足迹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e = (</a:t>
            </a:r>
            <a:r>
              <a:rPr lang="en-US" altLang="zh-CN" dirty="0" err="1">
                <a:latin typeface="Times New Roman" panose="02020603050405020304" pitchFamily="18" charset="0"/>
                <a:ea typeface="楷体_GB2312" pitchFamily="49" charset="-122"/>
              </a:rPr>
              <a:t>curstep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ea typeface="楷体_GB2312" pitchFamily="49" charset="-122"/>
              </a:rPr>
              <a:t>curpos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, 1);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     Push (</a:t>
            </a:r>
            <a:r>
              <a:rPr lang="en-US" altLang="zh-CN" dirty="0" err="1">
                <a:latin typeface="Times New Roman" panose="02020603050405020304" pitchFamily="18" charset="0"/>
                <a:ea typeface="楷体_GB2312" pitchFamily="49" charset="-122"/>
              </a:rPr>
              <a:t>S,e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);                           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加入路经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if(</a:t>
            </a:r>
            <a:r>
              <a:rPr lang="en-US" altLang="zh-CN" dirty="0" err="1">
                <a:latin typeface="Times New Roman" panose="02020603050405020304" pitchFamily="18" charset="0"/>
                <a:ea typeface="楷体_GB2312" pitchFamily="49" charset="-122"/>
              </a:rPr>
              <a:t>curpos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==end)   return (TRUE);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                                       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到达出口（终点）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en-US" altLang="zh-CN" dirty="0" err="1">
                <a:latin typeface="Times New Roman" panose="02020603050405020304" pitchFamily="18" charset="0"/>
                <a:ea typeface="楷体_GB2312" pitchFamily="49" charset="-122"/>
              </a:rPr>
              <a:t>curpos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 = </a:t>
            </a:r>
            <a:r>
              <a:rPr lang="en-US" altLang="zh-CN" dirty="0" err="1">
                <a:latin typeface="Times New Roman" panose="02020603050405020304" pitchFamily="18" charset="0"/>
                <a:ea typeface="楷体_GB2312" pitchFamily="49" charset="-122"/>
              </a:rPr>
              <a:t>NextPos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 (</a:t>
            </a:r>
            <a:r>
              <a:rPr lang="en-US" altLang="zh-CN" dirty="0" err="1">
                <a:latin typeface="Times New Roman" panose="02020603050405020304" pitchFamily="18" charset="0"/>
                <a:ea typeface="楷体_GB2312" pitchFamily="49" charset="-122"/>
              </a:rPr>
              <a:t>curpos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, 1);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                          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下一位置是当前位置的东邻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en-US" altLang="zh-CN" dirty="0" err="1">
                <a:latin typeface="Times New Roman" panose="02020603050405020304" pitchFamily="18" charset="0"/>
                <a:ea typeface="楷体_GB2312" pitchFamily="49" charset="-122"/>
              </a:rPr>
              <a:t>curstep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++;                         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探索下一步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   }//if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else{                              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当前位置走过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或不可通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3">
            <a:extLst>
              <a:ext uri="{FF2B5EF4-FFF2-40B4-BE49-F238E27FC236}">
                <a16:creationId xmlns:a16="http://schemas.microsoft.com/office/drawing/2014/main" id="{1462BFC1-5FF5-4E37-8C79-E645A2E86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950" y="620713"/>
            <a:ext cx="8775700" cy="5919787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         </a:t>
            </a:r>
            <a:r>
              <a:rPr lang="en-US" altLang="zh-CN" sz="2400" dirty="0">
                <a:latin typeface="Times New Roman" panose="02020603050405020304" pitchFamily="18" charset="0"/>
              </a:rPr>
              <a:t>if 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!</a:t>
            </a:r>
            <a:r>
              <a:rPr kumimoji="1"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StackEmpty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(S)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            Pop (S, e);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            while (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e.di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=4&amp;&amp;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!</a:t>
            </a:r>
            <a:r>
              <a:rPr kumimoji="1"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StackEmpty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(S)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               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MarkPrint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(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e.seat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); Pop (S, e);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                    </a:t>
            </a:r>
            <a:r>
              <a:rPr kumimoji="1" lang="en-US" altLang="zh-CN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kumimoji="1"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留下不能通过的标记，并退回一步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            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}//while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            if (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e.di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&lt;4){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              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e.di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++; Push (S, e);          </a:t>
            </a:r>
            <a:r>
              <a:rPr kumimoji="1" lang="en-US" altLang="zh-CN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kumimoji="1"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换下一个方向探索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              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curpos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= 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NextPos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(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e.seat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e.di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                         </a:t>
            </a:r>
            <a:r>
              <a:rPr kumimoji="1" lang="en-US" altLang="zh-CN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kumimoji="1"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设定当前位置是该新方向上的相邻快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             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}//if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          }//if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       }//else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    }while (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!</a:t>
            </a:r>
            <a:r>
              <a:rPr kumimoji="1"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StackEmpty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(S)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) 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  return (FALSE);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}//</a:t>
            </a:r>
            <a:r>
              <a:rPr kumimoji="1" lang="en-US" altLang="zh-CN" sz="2400" dirty="0" err="1">
                <a:latin typeface="Times New Roman" panose="02020603050405020304" pitchFamily="18" charset="0"/>
              </a:rPr>
              <a:t>MazePath</a:t>
            </a:r>
            <a:endParaRPr kumimoji="1"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3491" name="Text Box 4">
            <a:extLst>
              <a:ext uri="{FF2B5EF4-FFF2-40B4-BE49-F238E27FC236}">
                <a16:creationId xmlns:a16="http://schemas.microsoft.com/office/drawing/2014/main" id="{031583C1-73F1-47D1-B88B-87EE26FE7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8664" y="6021388"/>
            <a:ext cx="1800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rPr>
              <a:t>算法 </a:t>
            </a:r>
            <a:r>
              <a:rPr lang="en-US" altLang="zh-CN" sz="2800" b="1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rPr>
              <a:t>3.3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538" name="Object 5">
            <a:extLst>
              <a:ext uri="{FF2B5EF4-FFF2-40B4-BE49-F238E27FC236}">
                <a16:creationId xmlns:a16="http://schemas.microsoft.com/office/drawing/2014/main" id="{A5413DC1-1286-415F-BED5-E96138CABD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431992"/>
              </p:ext>
            </p:extLst>
          </p:nvPr>
        </p:nvGraphicFramePr>
        <p:xfrm>
          <a:off x="50800" y="330200"/>
          <a:ext cx="10845800" cy="607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Document" r:id="rId4" imgW="3519648" imgH="2067407" progId="Word.Document.8">
                  <p:embed/>
                </p:oleObj>
              </mc:Choice>
              <mc:Fallback>
                <p:oleObj name="Document" r:id="rId4" imgW="3519648" imgH="2067407" progId="Word.Document.8">
                  <p:embed/>
                  <p:pic>
                    <p:nvPicPr>
                      <p:cNvPr id="65538" name="Object 5">
                        <a:extLst>
                          <a:ext uri="{FF2B5EF4-FFF2-40B4-BE49-F238E27FC236}">
                            <a16:creationId xmlns:a16="http://schemas.microsoft.com/office/drawing/2014/main" id="{A5413DC1-1286-415F-BED5-E96138CABD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" y="330200"/>
                        <a:ext cx="10845800" cy="607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189</TotalTime>
  <Words>1053</Words>
  <Application>Microsoft Office PowerPoint</Application>
  <PresentationFormat>宽屏</PresentationFormat>
  <Paragraphs>110</Paragraphs>
  <Slides>10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等线</vt:lpstr>
      <vt:lpstr>楷体_GB2312</vt:lpstr>
      <vt:lpstr>宋体</vt:lpstr>
      <vt:lpstr>Arial</vt:lpstr>
      <vt:lpstr>Calibri</vt:lpstr>
      <vt:lpstr>Calibri Light</vt:lpstr>
      <vt:lpstr>Comic Sans MS</vt:lpstr>
      <vt:lpstr>Times New Roman</vt:lpstr>
      <vt:lpstr>回顾</vt:lpstr>
      <vt:lpstr>文档</vt:lpstr>
      <vt:lpstr>Microsoft Word 97 - 2003 文档</vt:lpstr>
      <vt:lpstr>实验课 Week 5</vt:lpstr>
      <vt:lpstr>实验内容</vt:lpstr>
      <vt:lpstr>PowerPoint 演示文稿</vt:lpstr>
      <vt:lpstr>求迷宫路径算法的基本思想是：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实验课 Week 1</dc:title>
  <dc:creator>C CI</dc:creator>
  <cp:lastModifiedBy>周继楠</cp:lastModifiedBy>
  <cp:revision>30</cp:revision>
  <dcterms:created xsi:type="dcterms:W3CDTF">2020-02-09T07:09:27Z</dcterms:created>
  <dcterms:modified xsi:type="dcterms:W3CDTF">2020-04-04T01:53:37Z</dcterms:modified>
</cp:coreProperties>
</file>